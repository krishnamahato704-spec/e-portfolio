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8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252B6-DAAF-4708-8285-BA1D93FAC7FA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AE12A-85CE-40D6-A64A-9710D03EA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61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8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1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40.png"/><Relationship Id="rId12" Type="http://schemas.openxmlformats.org/officeDocument/2006/relationships/image" Target="../media/image7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55.png"/><Relationship Id="rId5" Type="http://schemas.openxmlformats.org/officeDocument/2006/relationships/image" Target="../media/image74.png"/><Relationship Id="rId10" Type="http://schemas.openxmlformats.org/officeDocument/2006/relationships/image" Target="../media/image78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9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4.png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3580"/>
              </a:gs>
              <a:gs pos="50000">
                <a:srgbClr val="1A4D80"/>
              </a:gs>
              <a:gs pos="100000">
                <a:srgbClr val="00358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48688" y="1786614"/>
            <a:ext cx="4903842" cy="608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225"/>
              </a:lnSpc>
              <a:spcBef>
                <a:spcPts val="0"/>
              </a:spcBef>
              <a:spcAft>
                <a:spcPts val="780"/>
              </a:spcAft>
            </a:pPr>
            <a:r>
              <a:rPr sz="3109" b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Finland's Education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0911" y="2516166"/>
            <a:ext cx="7399397" cy="5493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705"/>
              </a:lnSpc>
              <a:spcBef>
                <a:spcPts val="0"/>
              </a:spcBef>
              <a:spcAft>
                <a:spcPts val="0"/>
              </a:spcAft>
            </a:pPr>
            <a:r>
              <a:rPr sz="2750" b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Analysis for Curriculum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7133" y="3343275"/>
            <a:ext cx="1219169" cy="9525"/>
          </a:xfrm>
          <a:prstGeom prst="rect">
            <a:avLst/>
          </a:prstGeom>
          <a:solidFill>
            <a:srgbClr val="00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38699" y="32861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00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5392" y="3343275"/>
            <a:ext cx="1219169" cy="9525"/>
          </a:xfrm>
          <a:prstGeom prst="rect">
            <a:avLst/>
          </a:prstGeom>
          <a:solidFill>
            <a:srgbClr val="00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7923" y="3612892"/>
            <a:ext cx="4919873" cy="37516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and Curriculum (B.Ed.) — Department of Education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8158" y="4187530"/>
            <a:ext cx="6095847" cy="533399"/>
          </a:xfrm>
          <a:prstGeom prst="roundRect">
            <a:avLst>
              <a:gd name="adj" fmla="val 21428"/>
            </a:avLst>
          </a:prstGeom>
          <a:solidFill>
            <a:srgbClr val="F8F9FA"/>
          </a:solidFill>
          <a:ln w="8255">
            <a:solidFill>
              <a:srgbClr val="003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7133" y="4225476"/>
            <a:ext cx="2504083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35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89" y="5104239"/>
            <a:ext cx="2119939" cy="903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2400" b="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sz="2400" b="0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4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Mahato</a:t>
            </a:r>
          </a:p>
          <a:p>
            <a:pPr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400" b="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Sahil Kumar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3580"/>
              </a:gs>
              <a:gs pos="50000">
                <a:srgbClr val="1A4D80"/>
              </a:gs>
              <a:gs pos="100000">
                <a:srgbClr val="00358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B84B4E-6A76-6899-CAC9-998E9EBEAA42}"/>
              </a:ext>
            </a:extLst>
          </p:cNvPr>
          <p:cNvSpPr txBox="1"/>
          <p:nvPr/>
        </p:nvSpPr>
        <p:spPr>
          <a:xfrm>
            <a:off x="3639063" y="282355"/>
            <a:ext cx="5332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Amity University, Noida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F77135-026A-BD21-1B7F-0DCE4BE60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76" y="128035"/>
            <a:ext cx="2230414" cy="23294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C16B5F-DFB2-5C74-BFA8-436FF9BD52A6}"/>
              </a:ext>
            </a:extLst>
          </p:cNvPr>
          <p:cNvSpPr txBox="1"/>
          <p:nvPr/>
        </p:nvSpPr>
        <p:spPr>
          <a:xfrm>
            <a:off x="8308732" y="5222627"/>
            <a:ext cx="3754314" cy="595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55"/>
              </a:lnSpc>
              <a:spcAft>
                <a:spcPts val="260"/>
              </a:spcAft>
            </a:pPr>
            <a:r>
              <a:rPr lang="en-US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2025-2027</a:t>
            </a:r>
          </a:p>
          <a:p>
            <a:pPr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lang="en-US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B.Ed Department of Education</a:t>
            </a:r>
            <a:endParaRPr lang="en-US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325E"/>
            </a:gs>
            <a:gs pos="100000">
              <a:srgbClr val="0D3D6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1980" y="1728309"/>
            <a:ext cx="2917722" cy="69628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1040"/>
              </a:spcAft>
            </a:pPr>
            <a:r>
              <a:rPr sz="5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Finland's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80" y="2528410"/>
            <a:ext cx="5476114" cy="69628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980" y="3581400"/>
            <a:ext cx="457188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565" y="3397575"/>
            <a:ext cx="5361211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Analysis for Curriculum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99" y="4158110"/>
            <a:ext cx="268272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Excellence Through Equity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6753" y="5232326"/>
            <a:ext cx="247643" cy="1842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33466" y="5048312"/>
            <a:ext cx="925190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466" y="5261462"/>
            <a:ext cx="1628907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Design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9844" y="5226566"/>
            <a:ext cx="247643" cy="195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6558" y="5047863"/>
            <a:ext cx="816185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558" y="5262103"/>
            <a:ext cx="1258614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Finland-India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321" y="5226566"/>
            <a:ext cx="247643" cy="195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81510" y="5048312"/>
            <a:ext cx="627031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1510" y="5261462"/>
            <a:ext cx="1298689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Reform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43751" y="2820543"/>
            <a:ext cx="609584" cy="5120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10688" y="4073230"/>
            <a:ext cx="1723357" cy="3498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Mirror, Not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811" y="82924"/>
            <a:ext cx="11750268" cy="5596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ource Code Pro"/>
              </a:rPr>
              <a:t>The Finnish Paradox - Excellence Through Equity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895350"/>
            <a:ext cx="3228894" cy="5734050"/>
          </a:xfrm>
          <a:prstGeom prst="roundRect">
            <a:avLst>
              <a:gd name="adj" fmla="val 471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343797" y="3696335"/>
            <a:ext cx="5734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7683" y="1293495"/>
            <a:ext cx="228594" cy="19430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1970314"/>
            <a:ext cx="152396" cy="97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278" y="1852154"/>
            <a:ext cx="1779590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Standardized testing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2294164"/>
            <a:ext cx="152396" cy="97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278" y="2185528"/>
            <a:ext cx="1641731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School inspections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2637064"/>
            <a:ext cx="152396" cy="979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6278" y="2518904"/>
            <a:ext cx="1422121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School rankings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2960914"/>
            <a:ext cx="152396" cy="979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278" y="2852279"/>
            <a:ext cx="1670586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Private competition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3303814"/>
            <a:ext cx="152396" cy="979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278" y="3185653"/>
            <a:ext cx="1510285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Performance pay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3627664"/>
            <a:ext cx="152396" cy="979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6278" y="3519029"/>
            <a:ext cx="1830886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Excessive homework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90875" y="895350"/>
            <a:ext cx="7743631" cy="1847849"/>
          </a:xfrm>
          <a:prstGeom prst="roundRect">
            <a:avLst>
              <a:gd name="adj" fmla="val 82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132991" y="1753234"/>
            <a:ext cx="1847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181370" y="1016324"/>
            <a:ext cx="5226046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7DE545"/>
                </a:solidFill>
                <a:latin typeface="Source Code Pro"/>
              </a:rPr>
              <a:t>Four Pillars of the Finnish Model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1370" y="1540808"/>
            <a:ext cx="190495" cy="1568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48063" y="1471154"/>
            <a:ext cx="694357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boto Flex"/>
              </a:rPr>
              <a:t>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8063" y="1728019"/>
            <a:ext cx="1252202" cy="2968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 Flex"/>
              </a:rPr>
              <a:t>Fair access for all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3651" y="1543610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10344" y="1471154"/>
            <a:ext cx="1476110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boto Flex"/>
              </a:rPr>
              <a:t>Teacher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0344" y="1728019"/>
            <a:ext cx="1978362" cy="2968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 Flex"/>
              </a:rPr>
              <a:t>Highly qualified professionals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1370" y="2136681"/>
            <a:ext cx="190495" cy="1652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8063" y="2071228"/>
            <a:ext cx="2101537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boto Flex"/>
              </a:rPr>
              <a:t>Formative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063" y="2328093"/>
            <a:ext cx="1511889" cy="2968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 Flex"/>
              </a:rPr>
              <a:t>Feedback for learning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3651" y="2129677"/>
            <a:ext cx="190495" cy="1792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10344" y="2071228"/>
            <a:ext cx="1800429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boto Flex"/>
              </a:rPr>
              <a:t>Holistic Curriculum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0344" y="2328093"/>
            <a:ext cx="1774781" cy="2968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 Flex"/>
              </a:rPr>
              <a:t>Designed for life, not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90875" y="2895600"/>
            <a:ext cx="7743631" cy="3733799"/>
          </a:xfrm>
          <a:prstGeom prst="roundRect">
            <a:avLst>
              <a:gd name="adj" fmla="val 40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2190016" y="4696459"/>
            <a:ext cx="3733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4181370" y="3016574"/>
            <a:ext cx="5533823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7DE545"/>
                </a:solidFill>
                <a:latin typeface="Source Code Pro"/>
              </a:rPr>
              <a:t>Significance for Curriculum Studies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81370" y="35382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448063" y="3484574"/>
            <a:ext cx="3371765" cy="55560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Roboto Flex"/>
              </a:rPr>
              <a:t>Curriculum matters</a:t>
            </a:r>
            <a:endParaRPr lang="en-US" sz="1400" b="0" dirty="0">
              <a:solidFill>
                <a:srgbClr val="FFFFFF"/>
              </a:solidFill>
              <a:latin typeface="Roboto Flex"/>
            </a:endParaRP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Roboto Flex"/>
              </a:rPr>
              <a:t> • Design shapes classroom reality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43651" y="353825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10344" y="3484574"/>
            <a:ext cx="3371765" cy="55560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Teachers matter most • No curriculum exceeds teacher capacity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81370" y="416690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448063" y="4100053"/>
            <a:ext cx="3452868" cy="324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Roboto Flex"/>
              </a:rPr>
              <a:t>Context matters • Adaptation not adoption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43651" y="4166907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10344" y="4113223"/>
            <a:ext cx="3371765" cy="55560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Roboto Flex"/>
              </a:rPr>
              <a:t>Time matters • Systemic change requires decades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E64293-39F7-EC7F-9B56-3CE6E248D9B2}"/>
              </a:ext>
            </a:extLst>
          </p:cNvPr>
          <p:cNvSpPr txBox="1"/>
          <p:nvPr/>
        </p:nvSpPr>
        <p:spPr>
          <a:xfrm>
            <a:off x="839878" y="1237693"/>
            <a:ext cx="2783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Finland Doesn't Have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906" y="451783"/>
            <a:ext cx="11082431" cy="5596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Context: Geographical, Socio-Cultural &amp; Historical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2020" y="1663209"/>
            <a:ext cx="4095647" cy="4572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1619" y="6345382"/>
            <a:ext cx="319645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Nordic Welfare State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8658" y="1244109"/>
            <a:ext cx="6800679" cy="2028825"/>
          </a:xfrm>
          <a:prstGeom prst="roundRect">
            <a:avLst>
              <a:gd name="adj" fmla="val 75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3950286" y="2192481"/>
            <a:ext cx="2028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153" y="1451754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22653" y="1795169"/>
            <a:ext cx="609398" cy="5171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7126" y="2238642"/>
            <a:ext cx="96045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people/km²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6951" y="1795169"/>
            <a:ext cx="1462195" cy="5171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9035" y="2238642"/>
            <a:ext cx="518027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3213" y="1795169"/>
            <a:ext cx="1071062" cy="5171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8479" y="2238642"/>
            <a:ext cx="100053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cover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153" y="2664870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6797" y="2581543"/>
            <a:ext cx="227331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 climate &amp; long winters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9153" y="2931570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36797" y="2848242"/>
            <a:ext cx="325755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Dispersed settlements across vast distances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58" y="3425334"/>
            <a:ext cx="3324141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535948" y="4788044"/>
            <a:ext cx="2857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9153" y="3636788"/>
            <a:ext cx="228594" cy="20573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9153" y="4051525"/>
            <a:ext cx="171445" cy="1382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6797" y="3962667"/>
            <a:ext cx="201042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Consensus &amp; trust culture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89153" y="4375683"/>
            <a:ext cx="171445" cy="995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6797" y="4267467"/>
            <a:ext cx="239354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cohesion &amp; equity focus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89153" y="4661125"/>
            <a:ext cx="171445" cy="1382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36797" y="4572268"/>
            <a:ext cx="255864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healthcare &amp; education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89153" y="4954864"/>
            <a:ext cx="171445" cy="1603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6797" y="4877068"/>
            <a:ext cx="188218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labor protections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75196" y="3425334"/>
            <a:ext cx="3324141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7012486" y="4788044"/>
            <a:ext cx="2857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565691" y="3651076"/>
            <a:ext cx="228594" cy="177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65691" y="3980255"/>
            <a:ext cx="641907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Pre-70s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3851" y="3970728"/>
            <a:ext cx="1274644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Dual-track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5691" y="4275529"/>
            <a:ext cx="660694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1968-77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3851" y="4266004"/>
            <a:ext cx="2015232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school reform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5691" y="4570805"/>
            <a:ext cx="514821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1930" y="4561278"/>
            <a:ext cx="1641731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 &amp;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5691" y="4866079"/>
            <a:ext cx="514821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1930" y="4856554"/>
            <a:ext cx="2129494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education enhancement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5691" y="5161355"/>
            <a:ext cx="60298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2000s+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8128" y="5151829"/>
            <a:ext cx="1676998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welfare &amp; PhBL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067ECC-2ACF-8472-3F86-FAD66407B884}"/>
              </a:ext>
            </a:extLst>
          </p:cNvPr>
          <p:cNvSpPr txBox="1"/>
          <p:nvPr/>
        </p:nvSpPr>
        <p:spPr>
          <a:xfrm>
            <a:off x="5392370" y="1366537"/>
            <a:ext cx="34740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Challenges</a:t>
            </a:r>
          </a:p>
          <a:p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7770B5-BF7A-3FEC-B9E5-97E4931CEB3A}"/>
              </a:ext>
            </a:extLst>
          </p:cNvPr>
          <p:cNvSpPr txBox="1"/>
          <p:nvPr/>
        </p:nvSpPr>
        <p:spPr>
          <a:xfrm>
            <a:off x="5308066" y="3554521"/>
            <a:ext cx="29409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Nordic Welfare State</a:t>
            </a:r>
          </a:p>
          <a:p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9FC53B-D720-2578-0FE6-7CC46AE8730D}"/>
              </a:ext>
            </a:extLst>
          </p:cNvPr>
          <p:cNvSpPr txBox="1"/>
          <p:nvPr/>
        </p:nvSpPr>
        <p:spPr>
          <a:xfrm>
            <a:off x="8836681" y="3546322"/>
            <a:ext cx="28408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Evolution</a:t>
            </a:r>
          </a:p>
          <a:p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4894" y="153142"/>
            <a:ext cx="11206710" cy="10432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Pathway: From ECEC to Higher Education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876424"/>
            <a:ext cx="3657508" cy="1724024"/>
          </a:xfrm>
          <a:prstGeom prst="roundRect">
            <a:avLst>
              <a:gd name="adj" fmla="val 883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338784" y="2672396"/>
            <a:ext cx="1724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980" y="2206942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169" y="1987536"/>
            <a:ext cx="1144801" cy="3969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2299459"/>
            <a:ext cx="89473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Ages 0-6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683" y="2642359"/>
            <a:ext cx="189981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Play-based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683" y="2909059"/>
            <a:ext cx="177478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Qualified teachers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83" y="3175758"/>
            <a:ext cx="176356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Early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093" y="1876424"/>
            <a:ext cx="3657508" cy="1724024"/>
          </a:xfrm>
          <a:prstGeom prst="roundRect">
            <a:avLst>
              <a:gd name="adj" fmla="val 883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471121" y="2672396"/>
            <a:ext cx="1724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5" y="220694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074" y="1987536"/>
            <a:ext cx="2093715" cy="3969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074" y="2299459"/>
            <a:ext cx="134267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6 • 1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588" y="2642359"/>
            <a:ext cx="165936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School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588" y="2909059"/>
            <a:ext cx="265951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Assessment before schooling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588" y="3175758"/>
            <a:ext cx="222362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Compulsory since 2015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6998" y="1876424"/>
            <a:ext cx="3657508" cy="1724024"/>
          </a:xfrm>
          <a:prstGeom prst="roundRect">
            <a:avLst>
              <a:gd name="adj" fmla="val 883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7281026" y="2672396"/>
            <a:ext cx="1724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0" y="2209800"/>
            <a:ext cx="228594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38979" y="1987536"/>
            <a:ext cx="2534540" cy="3969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8979" y="2299459"/>
            <a:ext cx="180664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7-16 Years • 9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7493" y="2642359"/>
            <a:ext cx="211782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tracking/streaming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7493" y="2909059"/>
            <a:ext cx="1813253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national exams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493" y="3175758"/>
            <a:ext cx="216431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Free meals &amp; transport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188" y="3752849"/>
            <a:ext cx="5562460" cy="1904999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-429271" y="4639308"/>
            <a:ext cx="1904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80" y="408336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19169" y="3863960"/>
            <a:ext cx="2824684" cy="3969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Secondary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169" y="4175884"/>
            <a:ext cx="190924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16-19 Years • 3 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83" y="4519062"/>
            <a:ext cx="1919051" cy="3440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(Lukio)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83" y="4822120"/>
            <a:ext cx="2441630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• Matriculation exam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4617" y="4519062"/>
            <a:ext cx="1305614" cy="3440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Vocational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4617" y="4810548"/>
            <a:ext cx="2514430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skills • Workplace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" y="5280420"/>
            <a:ext cx="383784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Parity of esteem • Students can switch tracks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045" y="3752849"/>
            <a:ext cx="5562460" cy="1904999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285586" y="4639308"/>
            <a:ext cx="1904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6838" y="4069079"/>
            <a:ext cx="228594" cy="2057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34026" y="3863960"/>
            <a:ext cx="2883995" cy="3969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4026" y="4175884"/>
            <a:ext cx="97077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19+ Years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2540" y="4601135"/>
            <a:ext cx="190495" cy="15127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29234" y="4519062"/>
            <a:ext cx="1441357" cy="3440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234" y="4784020"/>
            <a:ext cx="229870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Research-focused • Academic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29474" y="4601135"/>
            <a:ext cx="190495" cy="15127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296167" y="4519062"/>
            <a:ext cx="662297" cy="3440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6167" y="4784020"/>
            <a:ext cx="2095125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Practice-oriented • Applied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82" y="128112"/>
            <a:ext cx="8121390" cy="5676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School (Peruskoulu)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971550"/>
            <a:ext cx="4324241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188" y="6076950"/>
            <a:ext cx="4324241" cy="485775"/>
          </a:xfrm>
          <a:prstGeom prst="roundRect">
            <a:avLst>
              <a:gd name="adj" fmla="val 313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80341" y="6253797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682" y="6149023"/>
            <a:ext cx="302935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Years • All Students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2420" y="895350"/>
            <a:ext cx="6572085" cy="904874"/>
          </a:xfrm>
          <a:prstGeom prst="roundRect">
            <a:avLst>
              <a:gd name="adj" fmla="val 1684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4776023" y="1281747"/>
            <a:ext cx="904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262" y="1239492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8699" y="1011130"/>
            <a:ext cx="4160434" cy="4161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Tracking or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8699" y="1348423"/>
            <a:ext cx="368716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Mixed-ability teaching for all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2420" y="1952624"/>
            <a:ext cx="6572085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4633148" y="2481896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916" y="2179320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57688" y="2583746"/>
            <a:ext cx="224677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906" y="2518533"/>
            <a:ext cx="76649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906" y="2745669"/>
            <a:ext cx="1660968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Short-term interventions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1710" y="2583746"/>
            <a:ext cx="224677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8403" y="2518533"/>
            <a:ext cx="96526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403" y="2745669"/>
            <a:ext cx="1784399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long-term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6207" y="2583746"/>
            <a:ext cx="224677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2900" y="2518533"/>
            <a:ext cx="69596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2900" y="2745669"/>
            <a:ext cx="1540743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Individualized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2420" y="3295650"/>
            <a:ext cx="3209844" cy="3333749"/>
          </a:xfrm>
          <a:prstGeom prst="roundRect">
            <a:avLst>
              <a:gd name="adj" fmla="val 47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561586" y="4896484"/>
            <a:ext cx="3333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916" y="3507581"/>
            <a:ext cx="228594" cy="185737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2916" y="3916311"/>
            <a:ext cx="171445" cy="14932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00559" y="3832983"/>
            <a:ext cx="93160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meals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2916" y="4221111"/>
            <a:ext cx="171445" cy="14932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00559" y="4137783"/>
            <a:ext cx="149906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materials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52916" y="4531441"/>
            <a:ext cx="171445" cy="13826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00559" y="4442584"/>
            <a:ext cx="92679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52916" y="4833476"/>
            <a:ext cx="171445" cy="1437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00559" y="4747384"/>
            <a:ext cx="119782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24661" y="3295650"/>
            <a:ext cx="3209844" cy="3333749"/>
          </a:xfrm>
          <a:prstGeom prst="roundRect">
            <a:avLst>
              <a:gd name="adj" fmla="val 47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6923827" y="4896484"/>
            <a:ext cx="3333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15157" y="3537584"/>
            <a:ext cx="228594" cy="12572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715157" y="3921841"/>
            <a:ext cx="171445" cy="13826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62800" y="3832983"/>
            <a:ext cx="174432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welfare teams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715157" y="4226641"/>
            <a:ext cx="171445" cy="13826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62800" y="4137783"/>
            <a:ext cx="166096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Guidance counseling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715157" y="452591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962800" y="4442584"/>
            <a:ext cx="97167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Dental care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715157" y="4827945"/>
            <a:ext cx="171445" cy="15485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62800" y="4747384"/>
            <a:ext cx="149585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national exams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CDD750-2F73-714A-5EB6-28A365EDFCE0}"/>
              </a:ext>
            </a:extLst>
          </p:cNvPr>
          <p:cNvSpPr txBox="1"/>
          <p:nvPr/>
        </p:nvSpPr>
        <p:spPr>
          <a:xfrm>
            <a:off x="5675492" y="2082583"/>
            <a:ext cx="308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Multi-Tiered Support System</a:t>
            </a:r>
          </a:p>
          <a:p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2C74E6-9EA5-7FF7-547E-762EB7A7D2C8}"/>
              </a:ext>
            </a:extLst>
          </p:cNvPr>
          <p:cNvSpPr txBox="1"/>
          <p:nvPr/>
        </p:nvSpPr>
        <p:spPr>
          <a:xfrm>
            <a:off x="5600559" y="3430678"/>
            <a:ext cx="1494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Services</a:t>
            </a:r>
          </a:p>
          <a:p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7ACEAD-5632-1C7E-693F-CC9B14236E01}"/>
              </a:ext>
            </a:extLst>
          </p:cNvPr>
          <p:cNvSpPr txBox="1"/>
          <p:nvPr/>
        </p:nvSpPr>
        <p:spPr>
          <a:xfrm>
            <a:off x="8958989" y="3421986"/>
            <a:ext cx="1678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Teams</a:t>
            </a:r>
          </a:p>
          <a:p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82" y="53556"/>
            <a:ext cx="7722883" cy="5596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Secondary &amp; Higher Education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485" y="10925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674" y="828752"/>
            <a:ext cx="2824684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Secondary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215073"/>
            <a:ext cx="190924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16-19 Years • 3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188" y="1628775"/>
            <a:ext cx="5562460" cy="1638299"/>
          </a:xfrm>
          <a:prstGeom prst="roundRect">
            <a:avLst>
              <a:gd name="adj" fmla="val 930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95921" y="2381884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406" y="1889554"/>
            <a:ext cx="209544" cy="164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2971" y="1768800"/>
            <a:ext cx="2274918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(Lukio)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83" y="2314728"/>
            <a:ext cx="171445" cy="1520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5327" y="2240414"/>
            <a:ext cx="2441630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Subject-based with increasing choice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3" y="2620911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5327" y="2545215"/>
            <a:ext cx="1818062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Matriculation Examination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683" y="2936772"/>
            <a:ext cx="171445" cy="1272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27" y="2850015"/>
            <a:ext cx="239033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preparation for university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045" y="1628775"/>
            <a:ext cx="5562460" cy="1638299"/>
          </a:xfrm>
          <a:prstGeom prst="roundRect">
            <a:avLst>
              <a:gd name="adj" fmla="val 930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418936" y="2381884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8263" y="1885306"/>
            <a:ext cx="209544" cy="1727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7828" y="1768800"/>
            <a:ext cx="1538113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Vocational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62540" y="2313345"/>
            <a:ext cx="171445" cy="15485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10184" y="2240414"/>
            <a:ext cx="1867755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Competence-based learning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2540" y="2626441"/>
            <a:ext cx="171445" cy="1382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10184" y="2545215"/>
            <a:ext cx="1970861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Workplace learning emphasis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62540" y="2950599"/>
            <a:ext cx="171445" cy="995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10184" y="2850495"/>
            <a:ext cx="2140266" cy="2997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Eligibility for higher education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188" y="3381375"/>
            <a:ext cx="11277318" cy="485775"/>
          </a:xfrm>
          <a:prstGeom prst="roundRect">
            <a:avLst>
              <a:gd name="adj" fmla="val 313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280341" y="3558222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49964" y="3453448"/>
            <a:ext cx="512986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Parity of esteem • Students can switch tracks • No dead ends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1485" y="4240529"/>
            <a:ext cx="228594" cy="2057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28674" y="3991051"/>
            <a:ext cx="288399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674" y="4377373"/>
            <a:ext cx="213295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19+ Years • Dual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188" y="4791075"/>
            <a:ext cx="5562460" cy="1600200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-276872" y="5525135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7683" y="5010564"/>
            <a:ext cx="266693" cy="20872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8674" y="4912050"/>
            <a:ext cx="1702646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Universities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7683" y="5430786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95327" y="5364615"/>
            <a:ext cx="195271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Research-focused orientation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7683" y="5735586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5327" y="5669415"/>
            <a:ext cx="3092963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degrees (Bachelor, Master, Doctoral)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7683" y="6040386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5327" y="5974214"/>
            <a:ext cx="1878976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 admission process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045" y="4791075"/>
            <a:ext cx="5562460" cy="1600200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437985" y="5525135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62540" y="5010564"/>
            <a:ext cx="266693" cy="20872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43531" y="4956010"/>
            <a:ext cx="4858894" cy="40575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of Applied Sciences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62540" y="543078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610184" y="5364615"/>
            <a:ext cx="1843710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Practice-oriented education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62540" y="5735586"/>
            <a:ext cx="171445" cy="14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610184" y="5669415"/>
            <a:ext cx="261661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degrees (Bachelor, Master)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62540" y="6040386"/>
            <a:ext cx="171445" cy="1493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610184" y="5974214"/>
            <a:ext cx="219316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research &amp;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79" y="10420"/>
            <a:ext cx="11366010" cy="102996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Curriculum: Evolution, Structure &amp; Values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84" y="1036610"/>
            <a:ext cx="4886202" cy="2181225"/>
          </a:xfrm>
          <a:prstGeom prst="roundRect">
            <a:avLst>
              <a:gd name="adj" fmla="val 69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713688" y="2026014"/>
            <a:ext cx="2181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379" y="1243377"/>
            <a:ext cx="228594" cy="1257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1379" y="1546838"/>
            <a:ext cx="360933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70" y="1538775"/>
            <a:ext cx="206492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Centralized, content-based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379" y="1851637"/>
            <a:ext cx="360933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70" y="1843576"/>
            <a:ext cx="185012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 begins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379" y="2156438"/>
            <a:ext cx="360933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70" y="2148375"/>
            <a:ext cx="186935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Competence orientation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379" y="2461237"/>
            <a:ext cx="360933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70" y="2453176"/>
            <a:ext cx="168982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Holistic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79" y="2766038"/>
            <a:ext cx="389787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70" y="2757976"/>
            <a:ext cx="218835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Phenomenon-based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84" y="3335066"/>
            <a:ext cx="4886202" cy="3476624"/>
          </a:xfrm>
          <a:prstGeom prst="roundRect">
            <a:avLst>
              <a:gd name="adj" fmla="val 438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361388" y="5007338"/>
            <a:ext cx="3476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79" y="3555094"/>
            <a:ext cx="228594" cy="18859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19" y="4841797"/>
            <a:ext cx="152396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1225" y="4757394"/>
            <a:ext cx="218829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Core Curriculum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77" y="5241397"/>
            <a:ext cx="152396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1225" y="5168963"/>
            <a:ext cx="189660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Municipal Curriculum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77" y="5730089"/>
            <a:ext cx="152396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1166" y="5613250"/>
            <a:ext cx="209698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School-Level Curriculum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19" y="6186839"/>
            <a:ext cx="152396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1166" y="6085997"/>
            <a:ext cx="187666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Teacher's Annual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7580" y="1677246"/>
            <a:ext cx="6649989" cy="4106663"/>
          </a:xfrm>
          <a:prstGeom prst="roundRect">
            <a:avLst>
              <a:gd name="adj" fmla="val 489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448761" y="3664116"/>
            <a:ext cx="4106662" cy="1329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6672" y="2184122"/>
            <a:ext cx="228594" cy="18002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4136" y="3322913"/>
            <a:ext cx="209544" cy="1812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63189" y="3239131"/>
            <a:ext cx="168020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Dignity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8157" y="3606293"/>
            <a:ext cx="1301895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Inclusive practices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47690" y="3371525"/>
            <a:ext cx="209544" cy="1727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45111" y="3247270"/>
            <a:ext cx="81458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5111" y="3606293"/>
            <a:ext cx="1240981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access for all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30494" y="4141857"/>
            <a:ext cx="209544" cy="1812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78157" y="3961646"/>
            <a:ext cx="126342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Democracy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8157" y="4263519"/>
            <a:ext cx="1470211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&amp; voice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97447" y="4156016"/>
            <a:ext cx="209544" cy="15291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45111" y="3961646"/>
            <a:ext cx="150707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5111" y="4263519"/>
            <a:ext cx="1688219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Ecological responsibility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30494" y="4808607"/>
            <a:ext cx="209544" cy="1812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378157" y="4628397"/>
            <a:ext cx="194950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 Diversity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8157" y="4930269"/>
            <a:ext cx="438286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 for multiple identities • Multilingual awareness • Inclusivity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AF325-9ACA-C104-E43E-6252AA2FE9A7}"/>
              </a:ext>
            </a:extLst>
          </p:cNvPr>
          <p:cNvSpPr txBox="1"/>
          <p:nvPr/>
        </p:nvSpPr>
        <p:spPr>
          <a:xfrm>
            <a:off x="729973" y="956109"/>
            <a:ext cx="45833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Evolution</a:t>
            </a:r>
          </a:p>
          <a:p>
            <a:endParaRPr lang="en-US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27384B-E2D4-287A-EDC5-E413B66A33B7}"/>
              </a:ext>
            </a:extLst>
          </p:cNvPr>
          <p:cNvSpPr txBox="1"/>
          <p:nvPr/>
        </p:nvSpPr>
        <p:spPr>
          <a:xfrm>
            <a:off x="752454" y="3370967"/>
            <a:ext cx="43531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Three-Tiered Structure</a:t>
            </a:r>
          </a:p>
          <a:p>
            <a:endParaRPr lang="en-US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B66972-0C5A-FF32-722D-A9DB23BBF471}"/>
              </a:ext>
            </a:extLst>
          </p:cNvPr>
          <p:cNvSpPr txBox="1"/>
          <p:nvPr/>
        </p:nvSpPr>
        <p:spPr>
          <a:xfrm>
            <a:off x="6242450" y="1874410"/>
            <a:ext cx="56445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Values Underpinning the Curriculum</a:t>
            </a:r>
          </a:p>
          <a:p>
            <a:endParaRPr lang="en-US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525" y="151133"/>
            <a:ext cx="11869615" cy="5596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Content: Subjects, Competencies &amp; </a:t>
            </a:r>
            <a:r>
              <a:rPr sz="32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PhBL</a:t>
            </a:r>
            <a:endParaRPr sz="3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188" y="1581149"/>
            <a:ext cx="4362340" cy="2667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188" y="4400550"/>
            <a:ext cx="4362340" cy="1438274"/>
          </a:xfrm>
          <a:prstGeom prst="roundRect">
            <a:avLst>
              <a:gd name="adj" fmla="val 1059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95909" y="5053647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4598802"/>
            <a:ext cx="247643" cy="213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25" y="4520060"/>
            <a:ext cx="306519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Phenomenon-Based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683" y="5044680"/>
            <a:ext cx="4019449" cy="52148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real-world phenomena from multiple disciplinary perspectives • At least one multidisciplinary module annually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4321" y="819149"/>
            <a:ext cx="6610184" cy="2085975"/>
          </a:xfrm>
          <a:prstGeom prst="roundRect">
            <a:avLst>
              <a:gd name="adj" fmla="val 730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4147374" y="1796096"/>
            <a:ext cx="2085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4817" y="1022508"/>
            <a:ext cx="228594" cy="20288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14817" y="1400175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95576" y="1443626"/>
            <a:ext cx="352917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8182" y="1723638"/>
            <a:ext cx="987706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Mother Tongue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95927" y="1400175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6686" y="1443626"/>
            <a:ext cx="352917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3030" y="1723638"/>
            <a:ext cx="840230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86562" y="1400175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67321" y="1443626"/>
            <a:ext cx="352917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969" y="1723638"/>
            <a:ext cx="729622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67673" y="1400175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48432" y="1443626"/>
            <a:ext cx="352917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0080" y="1724087"/>
            <a:ext cx="729623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Arts &amp; 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14817" y="2114550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95576" y="2158000"/>
            <a:ext cx="352917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9822" y="2438012"/>
            <a:ext cx="944426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95927" y="2114550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76686" y="2158000"/>
            <a:ext cx="352917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4439" y="2438012"/>
            <a:ext cx="617413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86562" y="2114550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18617" y="2158000"/>
            <a:ext cx="250325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3133" y="2438012"/>
            <a:ext cx="981294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Religion/Ethics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67673" y="2114550"/>
            <a:ext cx="1514437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699728" y="2158000"/>
            <a:ext cx="250325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7937" y="2438012"/>
            <a:ext cx="453907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4321" y="3019424"/>
            <a:ext cx="6610184" cy="1609724"/>
          </a:xfrm>
          <a:prstGeom prst="roundRect">
            <a:avLst>
              <a:gd name="adj" fmla="val 946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4385499" y="3758246"/>
            <a:ext cx="1609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4817" y="3222307"/>
            <a:ext cx="228594" cy="2228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71965" y="3620506"/>
            <a:ext cx="30162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7708" y="3571937"/>
            <a:ext cx="705578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7708" y="3772905"/>
            <a:ext cx="896336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Metacognition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2600" y="3620506"/>
            <a:ext cx="30162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8819" y="3571937"/>
            <a:ext cx="655885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8819" y="3772905"/>
            <a:ext cx="973280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3236" y="3620506"/>
            <a:ext cx="30162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9454" y="3571488"/>
            <a:ext cx="654282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Self-care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9454" y="3772905"/>
            <a:ext cx="752065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Well-being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34346" y="3620506"/>
            <a:ext cx="30162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10564" y="3571937"/>
            <a:ext cx="933204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Multiliteracy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10564" y="3772905"/>
            <a:ext cx="91076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Texts &amp; media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1965" y="4096757"/>
            <a:ext cx="30162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7708" y="4048186"/>
            <a:ext cx="752065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ICT Skills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57708" y="4249156"/>
            <a:ext cx="70718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2600" y="4096757"/>
            <a:ext cx="30162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8819" y="4048186"/>
            <a:ext cx="960456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Life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38819" y="4249156"/>
            <a:ext cx="1034194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53236" y="4096757"/>
            <a:ext cx="30162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9454" y="4047737"/>
            <a:ext cx="901144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9454" y="4249156"/>
            <a:ext cx="1079078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future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AED584-7A5C-25FD-1B83-4FEDA3FB8BB7}"/>
              </a:ext>
            </a:extLst>
          </p:cNvPr>
          <p:cNvSpPr txBox="1"/>
          <p:nvPr/>
        </p:nvSpPr>
        <p:spPr>
          <a:xfrm>
            <a:off x="5549799" y="882611"/>
            <a:ext cx="50577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Structure (199 Lessons)</a:t>
            </a:r>
          </a:p>
          <a:p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5E51DD-6A23-DFEA-BBF2-160EFCD67B90}"/>
              </a:ext>
            </a:extLst>
          </p:cNvPr>
          <p:cNvSpPr txBox="1"/>
          <p:nvPr/>
        </p:nvSpPr>
        <p:spPr>
          <a:xfrm>
            <a:off x="5647488" y="3124199"/>
            <a:ext cx="51945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 Transversal Competencies</a:t>
            </a:r>
          </a:p>
          <a:p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82" y="73592"/>
            <a:ext cx="6075317" cy="5195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Education &amp; Professional Autonomy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381124"/>
            <a:ext cx="4324241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162420" y="857250"/>
            <a:ext cx="6572085" cy="962024"/>
          </a:xfrm>
          <a:prstGeom prst="roundRect">
            <a:avLst>
              <a:gd name="adj" fmla="val 1584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4747448" y="1272222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916" y="1212302"/>
            <a:ext cx="342891" cy="242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48203" y="995717"/>
            <a:ext cx="1782283" cy="3993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Rigorous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8203" y="1354402"/>
            <a:ext cx="3010696" cy="3391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acceptance rate • Multi-stage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2420" y="1971675"/>
            <a:ext cx="6572085" cy="962024"/>
          </a:xfrm>
          <a:prstGeom prst="roundRect">
            <a:avLst>
              <a:gd name="adj" fmla="val 1584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4747448" y="2386647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916" y="2324428"/>
            <a:ext cx="342891" cy="266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48203" y="2110143"/>
            <a:ext cx="2364173" cy="3993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Research-Based Master's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8203" y="2468828"/>
            <a:ext cx="3233514" cy="3391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Mandatory for </a:t>
            </a: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teachers</a:t>
            </a: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University programs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2420" y="3086100"/>
            <a:ext cx="3209844" cy="2028825"/>
          </a:xfrm>
          <a:prstGeom prst="roundRect">
            <a:avLst>
              <a:gd name="adj" fmla="val 75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214048" y="4034472"/>
            <a:ext cx="2028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916" y="3437792"/>
            <a:ext cx="304792" cy="2872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39924" y="3391348"/>
            <a:ext cx="218130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Autonomy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2916" y="40907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19609" y="4008682"/>
            <a:ext cx="1420517" cy="317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routine inspections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2916" y="44145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19609" y="4342058"/>
            <a:ext cx="1303498" cy="317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Freedom in methods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2916" y="475745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19609" y="4675433"/>
            <a:ext cx="1247393" cy="317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 of materials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4661" y="3086100"/>
            <a:ext cx="3209844" cy="2028825"/>
          </a:xfrm>
          <a:prstGeom prst="roundRect">
            <a:avLst>
              <a:gd name="adj" fmla="val 75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576289" y="4034472"/>
            <a:ext cx="2028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15157" y="3499338"/>
            <a:ext cx="304792" cy="1641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02165" y="3391348"/>
            <a:ext cx="2078839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Culture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15157" y="409070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81850" y="4008682"/>
            <a:ext cx="995722" cy="317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planning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15157" y="44145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81850" y="4342058"/>
            <a:ext cx="1088696" cy="317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observation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15157" y="475745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81850" y="4675433"/>
            <a:ext cx="1553567" cy="317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Multi-professional teams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2420" y="5267324"/>
            <a:ext cx="6572085" cy="1247775"/>
          </a:xfrm>
          <a:prstGeom prst="roundRect">
            <a:avLst>
              <a:gd name="adj" fmla="val 1221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4604573" y="5825171"/>
            <a:ext cx="1247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52916" y="5753428"/>
            <a:ext cx="342891" cy="26604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48203" y="5405793"/>
            <a:ext cx="3283591" cy="3993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Teachers as Curriculum Developers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8203" y="5907353"/>
            <a:ext cx="5733906" cy="3391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framework • Adapt locally • Design learning experiences • Evaluate practice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1124" y="132784"/>
            <a:ext cx="5944191" cy="5171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34754" y="771525"/>
            <a:ext cx="6922492" cy="466724"/>
          </a:xfrm>
          <a:prstGeom prst="roundRect">
            <a:avLst>
              <a:gd name="adj" fmla="val 32653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31309" y="832887"/>
            <a:ext cx="6319551" cy="3440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Low-stakes, High-trust Model</a:t>
            </a:r>
            <a:r>
              <a:rPr sz="20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Assessment for Learning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1390650"/>
            <a:ext cx="5524361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762772" y="3610610"/>
            <a:ext cx="4572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559169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1468331"/>
            <a:ext cx="3567964" cy="4161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Formative Assessment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2697111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28" y="2632833"/>
            <a:ext cx="205691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28" y="2869494"/>
            <a:ext cx="1850122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Ongoing, detailed guidance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3230511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28" y="3166233"/>
            <a:ext cx="214026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Comments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28" y="3402895"/>
            <a:ext cx="1951112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Narrative reports over grades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3763911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28" y="3699632"/>
            <a:ext cx="180658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Autonomy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28" y="3936295"/>
            <a:ext cx="1668983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own assessments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4297311"/>
            <a:ext cx="171445" cy="1493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7228" y="4233032"/>
            <a:ext cx="191424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School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28" y="4469695"/>
            <a:ext cx="208736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over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7340" y="5593645"/>
            <a:ext cx="2722155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anxiety • Encourages risk-taking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4" y="1390650"/>
            <a:ext cx="5524361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3990184" y="3610610"/>
            <a:ext cx="4572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2540" y="1559169"/>
            <a:ext cx="304792" cy="2344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43531" y="1468331"/>
            <a:ext cx="3268780" cy="4161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Matriculation Exam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540" y="2495550"/>
            <a:ext cx="5257668" cy="6476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38739" y="2537583"/>
            <a:ext cx="2043957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Sole High-Stakes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739" y="2812344"/>
            <a:ext cx="2707729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age 18, end of upper secondary school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2540" y="3219449"/>
            <a:ext cx="5257668" cy="6476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38739" y="3261483"/>
            <a:ext cx="86587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739" y="3536245"/>
            <a:ext cx="4725909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intellectual development • Certify readiness for higher education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2540" y="3943350"/>
            <a:ext cx="5257668" cy="6476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38739" y="3985382"/>
            <a:ext cx="78733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739" y="4260144"/>
            <a:ext cx="2069734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student, not school ranking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2540" y="4667249"/>
            <a:ext cx="5257668" cy="6476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38739" y="4709283"/>
            <a:ext cx="202632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Admission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739" y="4984045"/>
            <a:ext cx="4225772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factor among many • Universities conduct own entrance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82" y="53556"/>
            <a:ext cx="8389348" cy="5596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Strengths of the Finnish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857250"/>
            <a:ext cx="4886202" cy="1914525"/>
          </a:xfrm>
          <a:prstGeom prst="roundRect">
            <a:avLst>
              <a:gd name="adj" fmla="val 796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434034" y="1748472"/>
            <a:ext cx="1914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7683" y="10734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683" y="1451463"/>
            <a:ext cx="1077474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1430" y="1406849"/>
            <a:ext cx="532453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683" y="1870562"/>
            <a:ext cx="747256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1430" y="1825950"/>
            <a:ext cx="532453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83" y="2289663"/>
            <a:ext cx="707181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430" y="2245049"/>
            <a:ext cx="518283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188" y="2924175"/>
            <a:ext cx="4886202" cy="1733550"/>
          </a:xfrm>
          <a:prstGeom prst="roundRect">
            <a:avLst>
              <a:gd name="adj" fmla="val 879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343547" y="3724910"/>
            <a:ext cx="1733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3155632"/>
            <a:ext cx="228594" cy="1657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7683" y="3469139"/>
            <a:ext cx="1863715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Between-School Variance: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683" y="3867149"/>
            <a:ext cx="1466813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53336" y="3910601"/>
            <a:ext cx="455509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2039" y="4190613"/>
            <a:ext cx="558102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Finland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0695" y="3867149"/>
            <a:ext cx="1466813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45050" y="3910601"/>
            <a:ext cx="558103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818" y="4191062"/>
            <a:ext cx="806567" cy="2761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OECD Avg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24181" y="3867149"/>
            <a:ext cx="1466813" cy="638175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20028" y="3910601"/>
            <a:ext cx="675121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5864" y="4190613"/>
            <a:ext cx="423449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188" y="4800600"/>
            <a:ext cx="4886202" cy="819149"/>
          </a:xfrm>
          <a:prstGeom prst="roundRect">
            <a:avLst>
              <a:gd name="adj" fmla="val 186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113654" y="5144134"/>
            <a:ext cx="819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83" y="5141063"/>
            <a:ext cx="247643" cy="13822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9624" y="4920250"/>
            <a:ext cx="2231637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24" y="5204163"/>
            <a:ext cx="1938288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influence on outcomes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24381" y="857250"/>
            <a:ext cx="6010124" cy="5238749"/>
          </a:xfrm>
          <a:prstGeom prst="roundRect">
            <a:avLst>
              <a:gd name="adj" fmla="val 2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171047" y="3410584"/>
            <a:ext cx="5238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4877" y="1078230"/>
            <a:ext cx="228594" cy="20573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4877" y="1529663"/>
            <a:ext cx="209544" cy="19822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00619" y="1478414"/>
            <a:ext cx="1767215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Coherence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0619" y="1714112"/>
            <a:ext cx="1739515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Values-embedded curriculum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00879" y="1546654"/>
            <a:ext cx="209544" cy="16424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86622" y="1478414"/>
            <a:ext cx="1742336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Professionalism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6622" y="1714112"/>
            <a:ext cx="1382045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developers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14877" y="2090608"/>
            <a:ext cx="209544" cy="1812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00619" y="2030864"/>
            <a:ext cx="817788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0619" y="2266562"/>
            <a:ext cx="2238049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approach adaptable locally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00879" y="2086361"/>
            <a:ext cx="209544" cy="1897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86622" y="2030864"/>
            <a:ext cx="1463799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Holistic Orientation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6622" y="2266562"/>
            <a:ext cx="1604863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across all domains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14877" y="2653999"/>
            <a:ext cx="209544" cy="178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00619" y="2592838"/>
            <a:ext cx="1420966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Future-Orientation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0619" y="2819013"/>
            <a:ext cx="1821268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Competency-based preparation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00879" y="2656831"/>
            <a:ext cx="209544" cy="17273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86622" y="2592838"/>
            <a:ext cx="1014958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86622" y="2819013"/>
            <a:ext cx="1412503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design for all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14877" y="3214558"/>
            <a:ext cx="209544" cy="1812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00619" y="3154814"/>
            <a:ext cx="864276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00619" y="3380987"/>
            <a:ext cx="1673792" cy="276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Phenomenon-based learning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14877" y="3923758"/>
            <a:ext cx="5667233" cy="5059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Finland demonstrates that </a:t>
            </a:r>
            <a:r>
              <a:rPr sz="12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 + quality</a:t>
            </a: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coexist without traditional competitive measures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825CCE-3601-5AA6-FFB8-266A57C6F4C9}"/>
              </a:ext>
            </a:extLst>
          </p:cNvPr>
          <p:cNvSpPr txBox="1"/>
          <p:nvPr/>
        </p:nvSpPr>
        <p:spPr>
          <a:xfrm>
            <a:off x="934691" y="951035"/>
            <a:ext cx="28706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PISA 2024 Scores</a:t>
            </a:r>
          </a:p>
          <a:p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4CB7EA-9495-4819-1E07-D2B4380F41BF}"/>
              </a:ext>
            </a:extLst>
          </p:cNvPr>
          <p:cNvSpPr txBox="1"/>
          <p:nvPr/>
        </p:nvSpPr>
        <p:spPr>
          <a:xfrm>
            <a:off x="900534" y="3068418"/>
            <a:ext cx="43492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INDICATOR: Equity</a:t>
            </a:r>
          </a:p>
          <a:p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AEE432-8D60-7982-9B00-EC8AE08EC8AB}"/>
              </a:ext>
            </a:extLst>
          </p:cNvPr>
          <p:cNvSpPr txBox="1"/>
          <p:nvPr/>
        </p:nvSpPr>
        <p:spPr>
          <a:xfrm>
            <a:off x="6182836" y="986984"/>
            <a:ext cx="46682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 Strengths of the Model</a:t>
            </a:r>
          </a:p>
          <a:p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924" y="282148"/>
            <a:ext cx="11646582" cy="5596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Finland vs India: Curriculum Philosophy &amp;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047741"/>
            <a:ext cx="5486262" cy="5429250"/>
          </a:xfrm>
          <a:prstGeom prst="roundRect">
            <a:avLst>
              <a:gd name="adj" fmla="val 280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191397" y="3696326"/>
            <a:ext cx="542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782" y="1325432"/>
            <a:ext cx="304792" cy="2256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872" y="1209743"/>
            <a:ext cx="117365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Finland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1903335"/>
            <a:ext cx="190495" cy="414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1756255"/>
            <a:ext cx="776110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75" y="2013281"/>
            <a:ext cx="3800977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Holistic development • Democratic citizenship • Life preparation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782" y="2448477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2356329"/>
            <a:ext cx="1043812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75" y="2728134"/>
            <a:ext cx="4762380" cy="29681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Competence-based • Phenomenon-focused • Transversal competencies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782" y="3275751"/>
            <a:ext cx="190495" cy="154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575" y="3185004"/>
            <a:ext cx="650627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75" y="3442030"/>
            <a:ext cx="3443507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Nordic welfare state • Equity • Democracy • Sustainability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782" y="3882830"/>
            <a:ext cx="190495" cy="1400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785079"/>
            <a:ext cx="1152303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75" y="4042105"/>
            <a:ext cx="3441904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curriculum developer • High professionalism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782" y="4467497"/>
            <a:ext cx="190495" cy="1708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575" y="4385154"/>
            <a:ext cx="1055032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75" y="4642181"/>
            <a:ext cx="2303772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NCC • Municipal &amp; school adaptation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5782" y="5071774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0575" y="4985230"/>
            <a:ext cx="1709058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75" y="5242256"/>
            <a:ext cx="2718949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PhBL mandatory • Multidisciplinary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243" y="1047741"/>
            <a:ext cx="5486262" cy="5429250"/>
          </a:xfrm>
          <a:prstGeom prst="roundRect">
            <a:avLst>
              <a:gd name="adj" fmla="val 280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3599658" y="3696326"/>
            <a:ext cx="542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76838" y="1325432"/>
            <a:ext cx="304792" cy="22566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95927" y="1209743"/>
            <a:ext cx="849848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8" y="1903335"/>
            <a:ext cx="190495" cy="4141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1630" y="1756255"/>
            <a:ext cx="776110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630" y="2013281"/>
            <a:ext cx="4107150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Holistic development • 21st century skills • Indian knowledge systems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76838" y="2448477"/>
            <a:ext cx="190495" cy="15127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81630" y="2356329"/>
            <a:ext cx="1043812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630" y="2727653"/>
            <a:ext cx="4762380" cy="2977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Competency-based • Learning outcomes-focused • Essential competencies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76838" y="3275751"/>
            <a:ext cx="190495" cy="1540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81630" y="3185004"/>
            <a:ext cx="650627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1630" y="3442030"/>
            <a:ext cx="3448316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Constitutional values • Indian traditions • Cultural heritage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76838" y="3882830"/>
            <a:ext cx="190495" cy="14007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81630" y="3785079"/>
            <a:ext cx="1152303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Role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1630" y="4042105"/>
            <a:ext cx="3823419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Empowered pedagogical facilitator • Developing professionalism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76838" y="4467497"/>
            <a:ext cx="190495" cy="17088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81630" y="4385154"/>
            <a:ext cx="1055032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1630" y="4642661"/>
            <a:ext cx="1931876" cy="2968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NCF • State &amp; local flexibility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76838" y="5063369"/>
            <a:ext cx="190495" cy="17929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81630" y="4985230"/>
            <a:ext cx="1709058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1630" y="5242256"/>
            <a:ext cx="4070281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Interdisciplinary projects encouraged • Cross-curricular competencies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535" y="273188"/>
            <a:ext cx="11850624" cy="5596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Lessons for India: From Principle to Practice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050674"/>
            <a:ext cx="3657508" cy="3099292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981445" y="2489307"/>
            <a:ext cx="3009348" cy="13208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782" y="118370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674" y="1102780"/>
            <a:ext cx="220669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Education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161345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426" y="1528235"/>
            <a:ext cx="2395849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4-year ITEP with curriculum studies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1918256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3426" y="1833034"/>
            <a:ext cx="2288191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University-affiliated demo schools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2223056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26" y="2137835"/>
            <a:ext cx="2486515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professional development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2527856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26" y="2442634"/>
            <a:ext cx="2323008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orientation in preparation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93" y="1068258"/>
            <a:ext cx="3657508" cy="3125612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815299" y="2502467"/>
            <a:ext cx="3035670" cy="13208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687" y="1183709"/>
            <a:ext cx="266693" cy="2087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38579" y="1102780"/>
            <a:ext cx="230377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Reform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687" y="1613456"/>
            <a:ext cx="171445" cy="1493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43331" y="1528235"/>
            <a:ext cx="2247667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syllabus content for depth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687" y="1918256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43331" y="1833034"/>
            <a:ext cx="2642005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Redesign board exams for competencies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687" y="222305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43331" y="2137835"/>
            <a:ext cx="2127442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school-leaving profiles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687" y="2527856"/>
            <a:ext cx="171445" cy="1493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43331" y="2442634"/>
            <a:ext cx="2247667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measures vs single exam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6998" y="1085842"/>
            <a:ext cx="3657508" cy="3099292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6665094" y="2480162"/>
            <a:ext cx="2976204" cy="1523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5592" y="1179360"/>
            <a:ext cx="266693" cy="21741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48483" y="1102780"/>
            <a:ext cx="213385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Curriculum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1613456"/>
            <a:ext cx="171445" cy="1493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53236" y="1528235"/>
            <a:ext cx="184050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state/district capacity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1918256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53236" y="1833034"/>
            <a:ext cx="187256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exemplar curricula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2223056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53236" y="2137835"/>
            <a:ext cx="232621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Allocate teacher collaboration time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2527856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53236" y="2442634"/>
            <a:ext cx="216591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Empower teachers as developers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9882" y="4563905"/>
            <a:ext cx="5562460" cy="1952624"/>
          </a:xfrm>
          <a:prstGeom prst="roundRect">
            <a:avLst>
              <a:gd name="adj" fmla="val 78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-495580" y="5470181"/>
            <a:ext cx="1952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782" y="5042162"/>
            <a:ext cx="266693" cy="22611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28674" y="4960406"/>
            <a:ext cx="2065437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PhBL Adaptation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5471081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3426" y="5385860"/>
            <a:ext cx="1588833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gradually (1/year)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567" y="5471081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543211" y="5385860"/>
            <a:ext cx="1837298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resource materials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5775881"/>
            <a:ext cx="171445" cy="14932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3426" y="5690659"/>
            <a:ext cx="1531125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teacher capacity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567" y="5775881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43211" y="5690659"/>
            <a:ext cx="1566391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to local issues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31881" y="4559909"/>
            <a:ext cx="5562460" cy="1952624"/>
          </a:xfrm>
          <a:prstGeom prst="roundRect">
            <a:avLst>
              <a:gd name="adj" fmla="val 78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5234740" y="5450172"/>
            <a:ext cx="1952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0639" y="4723856"/>
            <a:ext cx="266693" cy="21741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43531" y="4671954"/>
            <a:ext cx="184550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Equity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639" y="5255101"/>
            <a:ext cx="171445" cy="14932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24635" y="5184784"/>
            <a:ext cx="3111686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foundational layer (nutrition, health)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639" y="5599372"/>
            <a:ext cx="171445" cy="14932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59159" y="5516211"/>
            <a:ext cx="2739083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resources to disadvantaged schools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039" y="5921351"/>
            <a:ext cx="171445" cy="14932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45217" y="5856459"/>
            <a:ext cx="1741118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equity in materials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4317" y="6244361"/>
            <a:ext cx="171445" cy="14932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48283" y="6157182"/>
            <a:ext cx="2900089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 schools must compensate deficits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7394"/>
            <a:ext cx="11966331" cy="5596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India Can and Cannot Learn from Finland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024298"/>
            <a:ext cx="5486262" cy="5429250"/>
          </a:xfrm>
          <a:prstGeom prst="roundRect">
            <a:avLst>
              <a:gd name="adj" fmla="val 280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191397" y="3672883"/>
            <a:ext cx="542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782" y="1285869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872" y="1186299"/>
            <a:ext cx="3369769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Adaptable Principles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1813752"/>
            <a:ext cx="190495" cy="173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1725021"/>
            <a:ext cx="192302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as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75" y="1988363"/>
            <a:ext cx="2399952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through capacity development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2413827"/>
            <a:ext cx="190495" cy="1736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575" y="2325096"/>
            <a:ext cx="155824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75" y="2588438"/>
            <a:ext cx="2488117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 in education, selection, support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3013902"/>
            <a:ext cx="190495" cy="1736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575" y="2925171"/>
            <a:ext cx="125168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is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75" y="3188513"/>
            <a:ext cx="308924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syllabus, prioritize depth over coverage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3613977"/>
            <a:ext cx="190495" cy="1736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525246"/>
            <a:ext cx="210647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Formative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75" y="3788588"/>
            <a:ext cx="3070008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improves with feedback, not rankings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4214052"/>
            <a:ext cx="190495" cy="1736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575" y="4125321"/>
            <a:ext cx="173951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 Pathways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75" y="4388663"/>
            <a:ext cx="2383922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dead ends, parity between tracks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2" y="4814127"/>
            <a:ext cx="190495" cy="1736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0575" y="4725396"/>
            <a:ext cx="274139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Phenomenon-Based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75" y="4988738"/>
            <a:ext cx="2718949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Engages students, develops competencies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243" y="1024298"/>
            <a:ext cx="5486262" cy="5429250"/>
          </a:xfrm>
          <a:prstGeom prst="roundRect">
            <a:avLst>
              <a:gd name="adj" fmla="val 280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3599658" y="3672883"/>
            <a:ext cx="542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838" y="1285869"/>
            <a:ext cx="304792" cy="2579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95927" y="1186299"/>
            <a:ext cx="3711209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 Limitations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38" y="1819355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1630" y="1725021"/>
            <a:ext cx="186775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 Specificity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630" y="1988363"/>
            <a:ext cx="3141629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requires homogeneity, difficult to replicate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38" y="2419430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81630" y="2325096"/>
            <a:ext cx="178228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Intensity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630" y="2588438"/>
            <a:ext cx="3328091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classes, extensive support require investment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38" y="3019505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81630" y="2925171"/>
            <a:ext cx="268034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Declining PISA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1630" y="3188513"/>
            <a:ext cx="3154966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whether innovations deliver outcomes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38" y="3619580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81630" y="3525246"/>
            <a:ext cx="236936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Multicultural Adaptation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1630" y="3788588"/>
            <a:ext cx="3470374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homogeneous society, needs negotiation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6838" y="5848229"/>
            <a:ext cx="4917994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Finland is a </a:t>
            </a:r>
            <a:r>
              <a:rPr sz="16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 for reflection</a:t>
            </a:r>
            <a:r>
              <a:rPr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a model for replication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4314" y="1545123"/>
            <a:ext cx="7592591" cy="700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2080"/>
              </a:spcAft>
            </a:pPr>
            <a:r>
              <a:rPr sz="4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Finland as </a:t>
            </a:r>
            <a:r>
              <a:rPr sz="4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</a:t>
            </a:r>
            <a:r>
              <a:rPr sz="4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Model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66813" y="2924175"/>
            <a:ext cx="228594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04" y="2824751"/>
            <a:ext cx="2933239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Offers </a:t>
            </a: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blueprints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441" y="2917031"/>
            <a:ext cx="228594" cy="185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3" y="2824751"/>
            <a:ext cx="4127990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 rests on </a:t>
            </a: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decades of capacity-building</a:t>
            </a: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6813" y="3414236"/>
            <a:ext cx="228594" cy="2200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09704" y="3339101"/>
            <a:ext cx="4315540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matters more than policy vision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4441" y="34270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3" y="3339101"/>
            <a:ext cx="2826351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 shape adaptation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6813" y="3930015"/>
            <a:ext cx="228594" cy="2171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09704" y="3853451"/>
            <a:ext cx="4076950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Trust earned through </a:t>
            </a: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competence</a:t>
            </a: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granted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4441" y="394144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67333" y="3853451"/>
            <a:ext cx="3351623" cy="351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16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essential for systemic change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6538" y="4629150"/>
            <a:ext cx="5238619" cy="657225"/>
          </a:xfrm>
          <a:prstGeom prst="roundRect">
            <a:avLst>
              <a:gd name="adj" fmla="val 2318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14884" y="4767712"/>
            <a:ext cx="516192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Curriculum must serve </a:t>
            </a:r>
            <a:r>
              <a:rPr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students</a:t>
            </a:r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just elites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1240</Words>
  <Application>Microsoft Office PowerPoint</Application>
  <PresentationFormat>Widescreen</PresentationFormat>
  <Paragraphs>371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Roboto Flex</vt:lpstr>
      <vt:lpstr>Source Code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 mahato</dc:creator>
  <cp:keywords/>
  <dc:description>generated using python-pptx</dc:description>
  <cp:lastModifiedBy>krishna mahato</cp:lastModifiedBy>
  <cp:revision>4</cp:revision>
  <dcterms:created xsi:type="dcterms:W3CDTF">2013-01-27T09:14:16Z</dcterms:created>
  <dcterms:modified xsi:type="dcterms:W3CDTF">2026-02-20T06:38:22Z</dcterms:modified>
  <cp:category/>
</cp:coreProperties>
</file>